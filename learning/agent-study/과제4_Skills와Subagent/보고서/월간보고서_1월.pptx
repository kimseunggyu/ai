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상담만족도</c:v>
                </c:pt>
              </c:strCache>
            </c:strRef>
          </c:tx>
          <c:spPr>
            <a:solidFill>
              <a:srgbClr val="0891B2"/>
            </a:solidFill>
            <a:ln w="38100" cap="flat">
              <a:solidFill>
                <a:srgbClr val="0891B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891B2"/>
              </a:solidFill>
              <a:ln w="9525" cap="flat">
                <a:solidFill>
                  <a:srgbClr val="0891B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1주차</c:v>
                  </c:pt>
                  <c:pt idx="1">
                    <c:v>2주차</c:v>
                  </c:pt>
                  <c:pt idx="2">
                    <c:v>3주차</c:v>
                  </c:pt>
                  <c:pt idx="3">
                    <c:v>4주차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4.1</c:v>
                </c:pt>
                <c:pt idx="2">
                  <c:v>4</c:v>
                </c:pt>
                <c:pt idx="3">
                  <c:v>4.2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응대친절도</c:v>
                </c:pt>
              </c:strCache>
            </c:strRef>
          </c:tx>
          <c:spPr>
            <a:solidFill>
              <a:srgbClr val="10B981"/>
            </a:solidFill>
            <a:ln w="38100" cap="flat">
              <a:solidFill>
                <a:srgbClr val="10B98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1주차</c:v>
                  </c:pt>
                  <c:pt idx="1">
                    <c:v>2주차</c:v>
                  </c:pt>
                  <c:pt idx="2">
                    <c:v>3주차</c:v>
                  </c:pt>
                  <c:pt idx="3">
                    <c:v>4주차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4.2</c:v>
                </c:pt>
                <c:pt idx="1">
                  <c:v>4.3</c:v>
                </c:pt>
                <c:pt idx="2">
                  <c:v>4.2</c:v>
                </c:pt>
                <c:pt idx="3">
                  <c:v>4.4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전체평균</c:v>
                </c:pt>
              </c:strCache>
            </c:strRef>
          </c:tx>
          <c:spPr>
            <a:solidFill>
              <a:srgbClr val="F59E0B"/>
            </a:solidFill>
            <a:ln w="381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1주차</c:v>
                  </c:pt>
                  <c:pt idx="1">
                    <c:v>2주차</c:v>
                  </c:pt>
                  <c:pt idx="2">
                    <c:v>3주차</c:v>
                  </c:pt>
                  <c:pt idx="3">
                    <c:v>4주차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4.1</c:v>
                </c:pt>
                <c:pt idx="1">
                  <c:v>4.2</c:v>
                </c:pt>
                <c:pt idx="2">
                  <c:v>4.1</c:v>
                </c:pt>
                <c:pt idx="3">
                  <c:v>4.3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6"/>
          <c:min val="3.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문제해결률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1주차</c:v>
                  </c:pt>
                  <c:pt idx="1">
                    <c:v>2주차</c:v>
                  </c:pt>
                  <c:pt idx="2">
                    <c:v>3주차</c:v>
                  </c:pt>
                  <c:pt idx="3">
                    <c:v>4주차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</c:v>
                </c:pt>
                <c:pt idx="1">
                  <c:v>83</c:v>
                </c:pt>
                <c:pt idx="2">
                  <c:v>81</c:v>
                </c:pt>
                <c:pt idx="3">
                  <c:v>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8"/>
          <c:min val="7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VOC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0891B2"/>
              </a:solidFill>
              <a:effectLst/>
            </c:spPr>
          </c:dPt>
          <c:dPt>
            <c:idx val="3"/>
            <c:bubble3D val="0"/>
            <c:spPr>
              <a:solidFill>
                <a:srgbClr val="8B5CF6"/>
              </a:solidFill>
              <a:effectLst/>
            </c:spPr>
          </c:dPt>
          <c:dPt>
            <c:idx val="4"/>
            <c:bubble3D val="0"/>
            <c:spPr>
              <a:solidFill>
                <a:srgbClr val="64748B"/>
              </a:solidFill>
              <a:effectLst/>
            </c:spPr>
          </c:dPt>
          <c:dPt>
            <c:idx val="5"/>
            <c:bubble3D val="0"/>
            <c:spPr>
              <a:solidFill>
                <a:srgbClr val="F97316"/>
              </a:solidFill>
              <a:effectLst/>
            </c:spPr>
          </c:dPt>
          <c:dPt>
            <c:idx val="6"/>
            <c:bubble3D val="0"/>
            <c:spPr>
              <a:solidFill>
                <a:srgbClr val="10B98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배송지연</c:v>
                </c:pt>
                <c:pt idx="1">
                  <c:v>품질불량</c:v>
                </c:pt>
                <c:pt idx="2">
                  <c:v>응대지연</c:v>
                </c:pt>
                <c:pt idx="3">
                  <c:v>품질불만족</c:v>
                </c:pt>
                <c:pt idx="4">
                  <c:v>기타</c:v>
                </c:pt>
                <c:pt idx="5">
                  <c:v>배송파손</c:v>
                </c:pt>
                <c:pt idx="6">
                  <c:v>응대불친절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215</c:v>
                </c:pt>
                <c:pt idx="1">
                  <c:v>105</c:v>
                </c:pt>
                <c:pt idx="2">
                  <c:v>95</c:v>
                </c:pt>
                <c:pt idx="3">
                  <c:v>76</c:v>
                </c:pt>
                <c:pt idx="4">
                  <c:v>65</c:v>
                </c:pt>
                <c:pt idx="5">
                  <c:v>59</c:v>
                </c:pt>
                <c:pt idx="6">
                  <c:v>37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배송지연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1주차</c:v>
                  </c:pt>
                  <c:pt idx="1">
                    <c:v>2주차</c:v>
                  </c:pt>
                  <c:pt idx="2">
                    <c:v>3주차</c:v>
                  </c:pt>
                  <c:pt idx="3">
                    <c:v>4주차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</c:v>
                </c:pt>
                <c:pt idx="1">
                  <c:v>58</c:v>
                </c:pt>
                <c:pt idx="2">
                  <c:v>52</c:v>
                </c:pt>
                <c:pt idx="3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품질불량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1주차</c:v>
                  </c:pt>
                  <c:pt idx="1">
                    <c:v>2주차</c:v>
                  </c:pt>
                  <c:pt idx="2">
                    <c:v>3주차</c:v>
                  </c:pt>
                  <c:pt idx="3">
                    <c:v>4주차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30</c:v>
                </c:pt>
                <c:pt idx="1">
                  <c:v>28</c:v>
                </c:pt>
                <c:pt idx="2">
                  <c:v>25</c:v>
                </c:pt>
                <c:pt idx="3">
                  <c:v>22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응대지연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1주차</c:v>
                  </c:pt>
                  <c:pt idx="1">
                    <c:v>2주차</c:v>
                  </c:pt>
                  <c:pt idx="2">
                    <c:v>3주차</c:v>
                  </c:pt>
                  <c:pt idx="3">
                    <c:v>4주차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25</c:v>
                </c:pt>
                <c:pt idx="1">
                  <c:v>28</c:v>
                </c:pt>
                <c:pt idx="2">
                  <c:v>22</c:v>
                </c:pt>
                <c:pt idx="3">
                  <c:v>20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기타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1주차</c:v>
                  </c:pt>
                  <c:pt idx="1">
                    <c:v>2주차</c:v>
                  </c:pt>
                  <c:pt idx="2">
                    <c:v>3주차</c:v>
                  </c:pt>
                  <c:pt idx="3">
                    <c:v>4주차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63</c:v>
                </c:pt>
                <c:pt idx="1">
                  <c:v>72</c:v>
                </c:pt>
                <c:pt idx="2">
                  <c:v>55</c:v>
                </c:pt>
                <c:pt idx="3">
                  <c:v>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6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Report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2025년 1월 월간보고서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 성과 분석 및 개선 방안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61772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CS팀  |  2025.01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1월 핵심 지표 요약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9202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63040"/>
            <a:ext cx="192024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 전체평균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4.18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2788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 만점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51760" y="1463040"/>
            <a:ext cx="19202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51760" y="1463040"/>
            <a:ext cx="192024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1691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VOC 건수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51760" y="20116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652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651760" y="2788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463040"/>
            <a:ext cx="19202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463040"/>
            <a:ext cx="19202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691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최다 불만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0116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배송지연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754880" y="2788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215건 (33%)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0" y="1463040"/>
            <a:ext cx="19202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0" y="1463040"/>
            <a:ext cx="19202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1691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 최고 주차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0" y="20116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4주차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858000" y="2788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전체평균 4.30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전월 데이터 없음 — 비교 생략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 현황 분석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평균 점수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3657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지표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월 평균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상담만족도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문제해결률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82.75%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응대친절도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전체평균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최고 / 최저점</a:t>
            </a:r>
            <a:endParaRPr lang="en-US" sz="14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554480"/>
          <a:ext cx="38404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640080"/>
                <a:gridCol w="548640"/>
                <a:gridCol w="640080"/>
                <a:gridCol w="54864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지표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최고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주차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최저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주차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상담만족도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1/3주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문제해결률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응대친절도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1/3주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전체평균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1/3주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3474720"/>
            <a:ext cx="8046720" cy="109728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9" name="Shape 5"/>
          <p:cNvSpPr/>
          <p:nvPr/>
        </p:nvSpPr>
        <p:spPr>
          <a:xfrm>
            <a:off x="548640" y="3474720"/>
            <a:ext cx="54864" cy="10972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6"/>
          <p:cNvSpPr/>
          <p:nvPr/>
        </p:nvSpPr>
        <p:spPr>
          <a:xfrm>
            <a:off x="822960" y="356616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4주차 전 지표 최고점 달성. 3주차 소폭 하락 후 4주차 반등하며 우상향 패턴 확인.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 주차별 추이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" cy="36576"/>
          </a:xfrm>
          <a:prstGeom prst="rect">
            <a:avLst/>
          </a:prstGeom>
          <a:solidFill>
            <a:srgbClr val="0891B2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669280" y="1097280"/>
          <a:ext cx="3200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 분석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" cy="36576"/>
          </a:xfrm>
          <a:prstGeom prst="rect">
            <a:avLst/>
          </a:prstGeom>
          <a:solidFill>
            <a:srgbClr val="0891B2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43891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02920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불만 유형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0" y="1554480"/>
            <a:ext cx="3657600" cy="82296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029200" y="1554480"/>
            <a:ext cx="54864" cy="8229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Shape 5"/>
          <p:cNvSpPr/>
          <p:nvPr/>
        </p:nvSpPr>
        <p:spPr>
          <a:xfrm>
            <a:off x="5257800" y="173736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525780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852160" y="1645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배송지연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85216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215건  (33.0%)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0" y="2560320"/>
            <a:ext cx="3657600" cy="82296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029200" y="256032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Shape 11"/>
          <p:cNvSpPr/>
          <p:nvPr/>
        </p:nvSpPr>
        <p:spPr>
          <a:xfrm>
            <a:off x="5257800" y="274320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52578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85216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품질불량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852160" y="2971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105건  (16.1%)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029200" y="3566160"/>
            <a:ext cx="3657600" cy="82296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029200" y="3566160"/>
            <a:ext cx="54864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Shape 17"/>
          <p:cNvSpPr/>
          <p:nvPr/>
        </p:nvSpPr>
        <p:spPr>
          <a:xfrm>
            <a:off x="5257800" y="374904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8"/>
          <p:cNvSpPr/>
          <p:nvPr/>
        </p:nvSpPr>
        <p:spPr>
          <a:xfrm>
            <a:off x="525780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852160" y="3657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응대지연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852160" y="3977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95건  (14.6%)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 주차별 추이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" cy="36576"/>
          </a:xfrm>
          <a:prstGeom prst="rect">
            <a:avLst/>
          </a:prstGeom>
          <a:solidFill>
            <a:srgbClr val="0891B2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457200" y="1005840"/>
          <a:ext cx="8229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2주차 VOC 최다(186건) → 이후 감소세. 4주차 CS 최고와 VOC 최저 일치.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개선 방안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38404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280160"/>
            <a:ext cx="548640" cy="2560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801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371600" y="1234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배송지연 개선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64592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1위 (33%), 매주 50건+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물류 파트너 SLA 재협상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배송 추적 알림 강화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97280"/>
            <a:ext cx="38404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4892040" y="1280160"/>
            <a:ext cx="548640" cy="2560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2801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577840" y="1234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문제해결률 향상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164592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 82.75%, 목표 대비 미달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상담사 트러블슈팅 가이드 업데이트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 확충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92608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926080"/>
            <a:ext cx="38404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3108960"/>
            <a:ext cx="54864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1089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371600" y="30632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품질불량 대응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347472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2위 (16.1%)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 프로세스 점검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반품 기준 명확화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92608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926080"/>
            <a:ext cx="38404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Shape 22"/>
          <p:cNvSpPr/>
          <p:nvPr/>
        </p:nvSpPr>
        <p:spPr>
          <a:xfrm>
            <a:off x="4892040" y="3108960"/>
            <a:ext cx="54864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31089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77840" y="30632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응대지연 해소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92040" y="347472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3위 (14.6%)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대기시간 모니터링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피크타임 인력 보강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2월 실행 계획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1주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05840" y="1737360"/>
            <a:ext cx="0" cy="27432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109728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물류 파트너 미팅 — 배송지연 개선안 협의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상담사 문제해결 교육 세션 진행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01168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2560320"/>
            <a:ext cx="0" cy="27432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19202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 체크리스트 개정 및 현장 적용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83464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834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3주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5840" y="3383280"/>
            <a:ext cx="0" cy="27432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54480" y="274320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피크타임 응대인력 배치 조정 시범 운영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365760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657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4주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54480" y="356616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2월 CS/VOC 중간 점검 및 1월 대비 성과 확인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2976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2월 목표:  전체평균 4.25 이상  |  VOC 총건수 620건 이하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월간보고서 — 2025년 1월</dc:title>
  <dc:subject>PptxGenJS Presentation</dc:subject>
  <dc:creator>CS팀</dc:creator>
  <cp:lastModifiedBy>CS팀</cp:lastModifiedBy>
  <cp:revision>1</cp:revision>
  <dcterms:created xsi:type="dcterms:W3CDTF">2026-02-22T16:19:26Z</dcterms:created>
  <dcterms:modified xsi:type="dcterms:W3CDTF">2026-02-22T16:19:26Z</dcterms:modified>
</cp:coreProperties>
</file>